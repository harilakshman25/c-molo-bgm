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9b4a8afe2a4697" /><Relationship Type="http://schemas.openxmlformats.org/officeDocument/2006/relationships/extended-properties" Target="/docProps/app.xml" Id="R866ef8329b034a20" /><Relationship Type="http://schemas.openxmlformats.org/officeDocument/2006/relationships/officeDocument" Target="/ppt/presentation.xml" Id="R600721855c8943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019c0b94ee4c53"/>
  </p:sldMasterIdLst>
  <p:notesMasterIdLst>
    <p:notesMasterId xmlns:r="http://schemas.openxmlformats.org/officeDocument/2006/relationships" r:id="R92fbab48c3af4aed"/>
  </p:notesMasterIdLst>
  <p:sldIdLst>
    <p:sldId xmlns:r="http://schemas.openxmlformats.org/officeDocument/2006/relationships" id="256" r:id="R09d526beb25843f9"/>
    <p:sldId xmlns:r="http://schemas.openxmlformats.org/officeDocument/2006/relationships" id="257" r:id="R6ddbff376ebe48c1"/>
    <p:sldId xmlns:r="http://schemas.openxmlformats.org/officeDocument/2006/relationships" id="258" r:id="Rb8f283c9d49d4a28"/>
    <p:sldId xmlns:r="http://schemas.openxmlformats.org/officeDocument/2006/relationships" id="259" r:id="R2284e0961ad94ae0"/>
    <p:sldId xmlns:r="http://schemas.openxmlformats.org/officeDocument/2006/relationships" id="260" r:id="Rc3cf8cbee6d5463b"/>
    <p:sldId xmlns:r="http://schemas.openxmlformats.org/officeDocument/2006/relationships" id="261" r:id="Re4ca2f070132487b"/>
    <p:sldId xmlns:r="http://schemas.openxmlformats.org/officeDocument/2006/relationships" id="262" r:id="R1058ab5d2e4c4c89"/>
    <p:sldId xmlns:r="http://schemas.openxmlformats.org/officeDocument/2006/relationships" id="263" r:id="R8ec7941ab7de4e86"/>
    <p:sldId xmlns:r="http://schemas.openxmlformats.org/officeDocument/2006/relationships" id="264" r:id="R23d053ea24b942f4"/>
    <p:sldId xmlns:r="http://schemas.openxmlformats.org/officeDocument/2006/relationships" id="265" r:id="Raa7e821030b34486"/>
    <p:sldId xmlns:r="http://schemas.openxmlformats.org/officeDocument/2006/relationships" id="266" r:id="R27964d2a01444f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4cfb6cae494ed0" /><Relationship Type="http://schemas.openxmlformats.org/officeDocument/2006/relationships/slideMaster" Target="/ppt/slideMasters/slideMaster1.xml" Id="R76019c0b94ee4c53" /><Relationship Type="http://schemas.openxmlformats.org/officeDocument/2006/relationships/notesMaster" Target="/ppt/notesMasters/notesMaster1.xml" Id="R92fbab48c3af4aed" /><Relationship Type="http://schemas.openxmlformats.org/officeDocument/2006/relationships/presProps" Target="/ppt/presProps.xml" Id="Rdbe1ddb09e4a470f" /><Relationship Type="http://schemas.openxmlformats.org/officeDocument/2006/relationships/tableStyles" Target="/ppt/tableStyles.xml" Id="Ra91e9cbf38a249b3" /><Relationship Type="http://schemas.openxmlformats.org/officeDocument/2006/relationships/slide" Target="/ppt/slides/slide1.xml" Id="R09d526beb25843f9" /><Relationship Type="http://schemas.openxmlformats.org/officeDocument/2006/relationships/slide" Target="/ppt/slides/slide2.xml" Id="R6ddbff376ebe48c1" /><Relationship Type="http://schemas.openxmlformats.org/officeDocument/2006/relationships/slide" Target="/ppt/slides/slide3.xml" Id="Rb8f283c9d49d4a28" /><Relationship Type="http://schemas.openxmlformats.org/officeDocument/2006/relationships/slide" Target="/ppt/slides/slide4.xml" Id="R2284e0961ad94ae0" /><Relationship Type="http://schemas.openxmlformats.org/officeDocument/2006/relationships/slide" Target="/ppt/slides/slide5.xml" Id="Rc3cf8cbee6d5463b" /><Relationship Type="http://schemas.openxmlformats.org/officeDocument/2006/relationships/slide" Target="/ppt/slides/slide6.xml" Id="Re4ca2f070132487b" /><Relationship Type="http://schemas.openxmlformats.org/officeDocument/2006/relationships/slide" Target="/ppt/slides/slide7.xml" Id="R1058ab5d2e4c4c89" /><Relationship Type="http://schemas.openxmlformats.org/officeDocument/2006/relationships/slide" Target="/ppt/slides/slide8.xml" Id="R8ec7941ab7de4e86" /><Relationship Type="http://schemas.openxmlformats.org/officeDocument/2006/relationships/slide" Target="/ppt/slides/slide9.xml" Id="R23d053ea24b942f4" /><Relationship Type="http://schemas.openxmlformats.org/officeDocument/2006/relationships/slide" Target="/ppt/slides/slide10.xml" Id="Raa7e821030b34486" /><Relationship Type="http://schemas.openxmlformats.org/officeDocument/2006/relationships/slide" Target="/ppt/slides/slide11.xml" Id="R27964d2a01444f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2e2f4e82ed41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7df28a55b548f0" /><Relationship Type="http://schemas.openxmlformats.org/officeDocument/2006/relationships/notesMaster" Target="/ppt/notesMasters/notesMaster1.xml" Id="R6a4727529ef248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a78c2485354fa9" /><Relationship Type="http://schemas.openxmlformats.org/officeDocument/2006/relationships/notesMaster" Target="/ppt/notesMasters/notesMaster1.xml" Id="R7a18e6ad623f4c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6fcf6853154d0b" /><Relationship Type="http://schemas.openxmlformats.org/officeDocument/2006/relationships/notesMaster" Target="/ppt/notesMasters/notesMaster1.xml" Id="R98515c0c9d5a49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679d8b03f14be7" /><Relationship Type="http://schemas.openxmlformats.org/officeDocument/2006/relationships/notesMaster" Target="/ppt/notesMasters/notesMaster1.xml" Id="R1008726eb9c34b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388411b1fa4e3e" /><Relationship Type="http://schemas.openxmlformats.org/officeDocument/2006/relationships/notesMaster" Target="/ppt/notesMasters/notesMaster1.xml" Id="Rc62d2d1d82f645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d57799657f439e" /><Relationship Type="http://schemas.openxmlformats.org/officeDocument/2006/relationships/notesMaster" Target="/ppt/notesMasters/notesMaster1.xml" Id="R1f3dc0c545e244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dff152421f4bad" /><Relationship Type="http://schemas.openxmlformats.org/officeDocument/2006/relationships/notesMaster" Target="/ppt/notesMasters/notesMaster1.xml" Id="Ra208b2ad29314c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131506f8d94784" /><Relationship Type="http://schemas.openxmlformats.org/officeDocument/2006/relationships/notesMaster" Target="/ppt/notesMasters/notesMaster1.xml" Id="R8374328bac2e48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29571fb29b49bb" /><Relationship Type="http://schemas.openxmlformats.org/officeDocument/2006/relationships/notesMaster" Target="/ppt/notesMasters/notesMaster1.xml" Id="R3c3996452f8340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8550274cc44db8" /><Relationship Type="http://schemas.openxmlformats.org/officeDocument/2006/relationships/notesMaster" Target="/ppt/notesMasters/notesMaster1.xml" Id="Re34a64e8e12441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aa90e7732041bf" /><Relationship Type="http://schemas.openxmlformats.org/officeDocument/2006/relationships/notesMaster" Target="/ppt/notesMasters/notesMaster1.xml" Id="R8a2eab4b0e0143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BTP progress presentation. Evidence cutoff: 28 October 2026. Presentation scheduled for 3 November. Report the story demo as pending until its server run and listening review finish.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BackgroundMellow: Ajitesh Jamulkar and Aritra Hazra, arXiv:2607.11364v1, supplied paper. Its approach already includes orchestration, specialist audio sources, TTS alignment, DSPred and waveform mixing. Do not claim separate-stem mixing as our new contribution.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BackgroundMellow paper, first page and project documentation. The current project is an extension/prototype, not a complete reproduction or benchmark against the paper.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bgm/service.py, bgm/story.py, bgm/temporal.py; story pipeline added 28 October, server inference pending. The demo does not yet have an automatic LLM planner, word-level aligner, server or frontend.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job 29967 logs and docs/LORA_PILOT.md. ESC-50 dog class: 24 train, 8 validation, 8 test using folds 1–3/4/5. Source/hash split audits passed; test not used for optimization or checkpoint choice. User listened to all clips; not an unseen listening set. https://github.com/karolpiczak/ESC-50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job 29967 fixed-noise validation losses: 0.5087598581, 0.3079632645, 0.2956833843, 0.2903111530, 0.2877913692. User comparison of six samples from jobs 29956 and 29974: mostly similar, a little improvement in the bird-chirping case. Loss reduction is not a perceptual improvement percentage.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bgm/temporal.py, Diffusers 0.32.2 StableAudioPipeline and CosineDPMSolverMultistepScheduler. Model outputs v_prediction, not epsilon. Both branches see the same latent and timestep, blend before linear CFG, pipeline updates once.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jobs 30033 and 30101, copied experiment.json files, user listening reports, docs/TEMPORAL_PILOT.md and docs/REGIONAL_PILOT.md. Timing observations are approximate; no event detector or blind study was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examples/forest_cabin.json, examples/sound_library.json, docs/STORY_DEMO.md. Newly implemented pipeline, not yet server-validated. TTS: https://huggingface.co/facebook/mms-tts-eng ; sound model: https://huggingface.co/stabilityai/stable-audio-open-1.0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results and new demo workflow. No FAD, CLAP or formal human study has been run. Dataset may overlap base pretraining; exact hashes/source IDs do not exclude near-duplicates or pretraining leakage. Do not imply category experts exist for all sounds: only dog is adapted.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 as of 28 October. The report and slides require an evidence update after the story demo runs. The goal is a credible reproducible demonstration, not a claim that latent timing has been solved.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d8358b12874af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793cec97b40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6d36a8d80643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47d7c493df4a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73f87c48649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66384648b43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44A83B-22D2-4328-AD20-8B0A9972D9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D830378-EF77-4358-A48F-3A863B6AA85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B31F909-2D15-4293-8604-0E23A336BA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636C4C-0E09-421C-9F32-8974EA54F4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2AB9D55-EECC-42F7-B9C1-C5D3F7F6F5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9849819-BA66-4571-B0D5-8E11438B49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6D5A17-4651-40CA-AA45-E0503B55AE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C271CE5-BF05-449B-A138-D3913BF576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5DA4B8-E646-4BF7-A476-04E520EEF7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C4FE05-8A97-40EF-B6A2-6B7C7DA02E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65c39b6e2946a9" /><Relationship Type="http://schemas.openxmlformats.org/officeDocument/2006/relationships/slideLayout" Target="/ppt/slideLayouts/slideLayout1.xml" Id="Rf08e1d189e6042b4" /><Relationship Type="http://schemas.openxmlformats.org/officeDocument/2006/relationships/slideLayout" Target="/ppt/slideLayouts/slideLayout2.xml" Id="R592e2298307d4e6f" /><Relationship Type="http://schemas.openxmlformats.org/officeDocument/2006/relationships/slideLayout" Target="/ppt/slideLayouts/slideLayout3.xml" Id="Rcb5d8a51a8e04f16" /><Relationship Type="http://schemas.openxmlformats.org/officeDocument/2006/relationships/slideLayout" Target="/ppt/slideLayouts/slideLayout4.xml" Id="R48fdb3c113a342f4" /><Relationship Type="http://schemas.openxmlformats.org/officeDocument/2006/relationships/slideLayout" Target="/ppt/slideLayouts/slideLayout5.xml" Id="Rc28d6e79021244c8" /><Relationship Type="http://schemas.openxmlformats.org/officeDocument/2006/relationships/slideLayout" Target="/ppt/slideLayouts/slideLayout6.xml" Id="Rce5de1aa99644b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8e1d189e6042b4"/>
    <p:sldLayoutId xmlns:r="http://schemas.openxmlformats.org/officeDocument/2006/relationships" id="2147483650" r:id="R592e2298307d4e6f"/>
    <p:sldLayoutId xmlns:r="http://schemas.openxmlformats.org/officeDocument/2006/relationships" id="2147483651" r:id="Rcb5d8a51a8e04f16"/>
    <p:sldLayoutId xmlns:r="http://schemas.openxmlformats.org/officeDocument/2006/relationships" id="2147483652" r:id="R48fdb3c113a342f4"/>
    <p:sldLayoutId xmlns:r="http://schemas.openxmlformats.org/officeDocument/2006/relationships" id="2147483653" r:id="Rc28d6e79021244c8"/>
    <p:sldLayoutId xmlns:r="http://schemas.openxmlformats.org/officeDocument/2006/relationships" id="2147483654" r:id="Rce5de1aa99644b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49346b725b449d" /><Relationship Type="http://schemas.openxmlformats.org/officeDocument/2006/relationships/notesSlide" Target="/ppt/notesSlides/notesSlide1.xml" Id="R45a48e9c1c094e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623efb3edd485c" /><Relationship Type="http://schemas.openxmlformats.org/officeDocument/2006/relationships/notesSlide" Target="/ppt/notesSlides/notesSlide2.xml" Id="R7c03c87a831f4b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464794985f47f0" /><Relationship Type="http://schemas.openxmlformats.org/officeDocument/2006/relationships/notesSlide" Target="/ppt/notesSlides/notesSlide3.xml" Id="Rdbbac0cc0eb24e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27b220909a4e0e" /><Relationship Type="http://schemas.openxmlformats.org/officeDocument/2006/relationships/notesSlide" Target="/ppt/notesSlides/notesSlide4.xml" Id="Re8b2769622aa46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ce1b09a0d44f34" /><Relationship Type="http://schemas.openxmlformats.org/officeDocument/2006/relationships/notesSlide" Target="/ppt/notesSlides/notesSlide5.xml" Id="R14cad3f98fef40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b3a8b974f64455" /><Relationship Type="http://schemas.openxmlformats.org/officeDocument/2006/relationships/chart" Target="/ppt/slides/charts/chart1.xml" Id="Rbaad7a3f7d2b437e" /><Relationship Type="http://schemas.openxmlformats.org/officeDocument/2006/relationships/notesSlide" Target="/ppt/notesSlides/notesSlide6.xml" Id="Red1fde56874043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75394afe3f441e" /><Relationship Type="http://schemas.openxmlformats.org/officeDocument/2006/relationships/notesSlide" Target="/ppt/notesSlides/notesSlide7.xml" Id="Ra23ec0b64ffa4f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2adb649de649e4" /><Relationship Type="http://schemas.openxmlformats.org/officeDocument/2006/relationships/notesSlide" Target="/ppt/notesSlides/notesSlide8.xml" Id="R9eb99b7a84f04c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066d2bd2aa47ce" /><Relationship Type="http://schemas.openxmlformats.org/officeDocument/2006/relationships/notesSlide" Target="/ppt/notesSlides/notesSlide9.xml" Id="Ra7164ad1b5b647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846d849b4a4d15" /><Relationship Type="http://schemas.openxmlformats.org/officeDocument/2006/relationships/notesSlide" Target="/ppt/notesSlides/notesSlide10.xml" Id="Rfb7f647afa0644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aa6b0757c84d86" /><Relationship Type="http://schemas.openxmlformats.org/officeDocument/2006/relationships/notesSlide" Target="/ppt/notesSlides/notesSlide11.xml" Id="R127ea71886634ea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Validation loss</c:v>
          </c:tx>
          <c:spPr>
            <a:solidFill xmlns:a="http://schemas.openxmlformats.org/drawingml/2006/main">
              <a:srgbClr val="087F8C"/>
            </a:solidFill>
          </c:spPr>
          <c:marker>
            <c:symbol val="none"/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0.50876</c:v>
                </c:pt>
                <c:pt idx="1">
                  <c:v>0.30796</c:v>
                </c:pt>
                <c:pt idx="2">
                  <c:v>0.29568</c:v>
                </c:pt>
                <c:pt idx="3">
                  <c:v>0.29031</c:v>
                </c:pt>
                <c:pt idx="4">
                  <c:v>0.28779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Optimizer step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Denoising loss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0479C-AFB9-4987-9984-D3AA6AEF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D3D"/>
                </a:solidFill>
                <a:latin typeface="Arial"/>
                <a:ea typeface="Arial"/>
                <a:cs typeface="Arial"/>
              </a:rPr>
              <a:t>Narrative audio with local models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EB175-1BC9-4727-A041-18C90063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Category LoRA adaptation and temporal composition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DAC6E-337F-4D9E-B271-E4DD10CA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Hari Lakshman | 23CS10009</a:t>
            </a:r>
          </a:p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BTP presentation • 3 November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B4E55-15AC-4354-B480-C0AF372E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Experimental results through 28 October</a:t>
            </a:r>
          </a:p>
        </p:txBody>
      </p:sp>
    </p:spTree>
    <p:extLst>
      <p:ext uri="{BB962C8B-B14F-4D97-AF65-F5344CB8AC3E}">
        <p14:creationId xmlns:p14="http://schemas.microsoft.com/office/powerpoint/2010/main" val="14832548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17437-B436-4FDC-A1B0-46B53030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D3D"/>
                </a:solidFill>
                <a:latin typeface="Arial"/>
                <a:ea typeface="Arial"/>
                <a:cs typeface="Arial"/>
              </a:rPr>
              <a:t>Problem and project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84602-EDE4-4E7B-9A4E-1E847A8E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Input: a story describing simultaneous speech, ambience and sound events.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C3757-D422-4E22-B52B-0CE1AD97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Output: intelligible narration with music and appropriately timed effects.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D40EF-9BB1-46F2-A17D-5375354E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Research question: can category audio LoRAs improve controllable composition?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B6634-AE28-4FBC-84E9-B4F3389B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Demo objective: a reproducible local pipeline with inspectable audio layers.</a:t>
            </a:r>
          </a:p>
        </p:txBody>
      </p:sp>
    </p:spTree>
    <p:extLst>
      <p:ext uri="{BB962C8B-B14F-4D97-AF65-F5344CB8AC3E}">
        <p14:creationId xmlns:p14="http://schemas.microsoft.com/office/powerpoint/2010/main" val="21257858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8D451-3603-4F09-AE2D-AF988BE2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D3D"/>
                </a:solidFill>
                <a:latin typeface="Arial"/>
                <a:ea typeface="Arial"/>
                <a:cs typeface="Arial"/>
              </a:rPr>
              <a:t>Relationship to BackgroundMellow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B754A-3A0E-46C8-AD39-A9273427A62F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000500"/>
                <a:gridCol w="4400550"/>
              </a:tblGrid>
              <a:tr h="742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17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Prior framework</a:t>
                      </a:r>
                    </a:p>
                  </a:txBody>
                  <a:tcPr marL="91440" marR="91440" marT="45720" marB="45720">
                    <a:solidFill>
                      <a:srgbClr val="17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work</a:t>
                      </a:r>
                    </a:p>
                  </a:txBody>
                  <a:tcPr marL="91440" marR="91440" marT="45720" marB="45720">
                    <a:solidFill>
                      <a:srgbClr val="172D3D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Sound construction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Specialist generation / retrieval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Stable Audio Open local generation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TTS timestamps and DSPred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Measured sentences + authored cues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Adaptation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Language timing predictor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Dog audio-denoiser LoRA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Composition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DSP stem mixing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DSP baseline + latent experiments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01106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1C9D2-282A-423B-A49F-A5285C9E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D3D"/>
                </a:solidFill>
                <a:latin typeface="Arial"/>
                <a:ea typeface="Arial"/>
                <a:cs typeface="Arial"/>
              </a:rPr>
              <a:t>Architecture: working baseline and research branch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E95ED-6502-4D70-801B-46C14E9618B4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438650"/>
                <a:gridCol w="4438650"/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7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Separate-stem story baseline</a:t>
                      </a:r>
                    </a:p>
                  </a:txBody>
                  <a:tcPr marL="91440" marR="91440" marT="45720" marB="45720">
                    <a:solidFill>
                      <a:srgbClr val="17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research branch</a:t>
                      </a:r>
                    </a:p>
                  </a:txBody>
                  <a:tcPr marL="91440" marR="91440" marT="45720" marB="45720">
                    <a:solidFill>
                      <a:srgbClr val="172D3D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Plan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Authored story scenes and cue categories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Prompt + target time mask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Generate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CPU TTS; GPU sound candidates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Shared latent: base + expert predictions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Align / combine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Measured sentence times; DSP placement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Blend v predictions; one scheduler step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Output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Narration + music + effects WAV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Single generated soundscape WAV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83C92-5B31-470E-BA83-43B43384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Baseline demo: server check pending. Latent timing: not demonstrated.</a:t>
            </a:r>
          </a:p>
        </p:txBody>
      </p:sp>
    </p:spTree>
    <p:extLst>
      <p:ext uri="{BB962C8B-B14F-4D97-AF65-F5344CB8AC3E}">
        <p14:creationId xmlns:p14="http://schemas.microsoft.com/office/powerpoint/2010/main" val="16541963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715A8-CC63-41E0-988D-80BEF5CD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D3D"/>
                </a:solidFill>
                <a:latin typeface="Arial"/>
                <a:ea typeface="Arial"/>
                <a:cs typeface="Arial"/>
              </a:rPr>
              <a:t>Dog LoRA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9555B-509B-47F3-B1C5-ACF1794F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40 five-second dog clips: 24 training / 8 validation / 8 test.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93D70-7F76-455E-ABAB-DA021892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Frozen Stable Audio Open backbone; rank-8 adapters on attention q/v.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945A7-6D4A-46E5-948B-29EA5383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2,064,384 trainable parameters; 200 optimizer steps on one V100.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9394A-F98A-4466-9952-1BC90D41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Best checkpoint: step 200. Training run: 321 seconds.</a:t>
            </a:r>
          </a:p>
        </p:txBody>
      </p:sp>
    </p:spTree>
    <p:extLst>
      <p:ext uri="{BB962C8B-B14F-4D97-AF65-F5344CB8AC3E}">
        <p14:creationId xmlns:p14="http://schemas.microsoft.com/office/powerpoint/2010/main" val="14096362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A5AAB-AD48-472B-980A-3131B5FE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D3D"/>
                </a:solidFill>
                <a:latin typeface="Arial"/>
                <a:ea typeface="Arial"/>
                <a:cs typeface="Arial"/>
              </a:rPr>
              <a:t>Validation loss decreased; audible gain was modest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31C36CE0-D462-436F-85E4-1CB694FCA88E}"/>
              </a:ext>
            </a:extLst>
          </p:cNvPr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6858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ad7a3f7d2b437e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0A2C9-E926-4A7C-96B8-013FEB57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14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43.4%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B2F09-63A1-460A-93A4-680092E8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3143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lower validation loss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Mostly similar sound quality in the listening pilot.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14232-E252-4642-8BE2-57DE24B7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One listener, six samples; no claim of broad quality superiority.</a:t>
            </a:r>
          </a:p>
        </p:txBody>
      </p:sp>
    </p:spTree>
    <p:extLst>
      <p:ext uri="{BB962C8B-B14F-4D97-AF65-F5344CB8AC3E}">
        <p14:creationId xmlns:p14="http://schemas.microsoft.com/office/powerpoint/2010/main" val="2411556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B3F70-FA5C-4485-AA04-333BFDE7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D3D"/>
                </a:solidFill>
                <a:latin typeface="Arial"/>
                <a:ea typeface="Arial"/>
                <a:cs typeface="Arial"/>
              </a:rPr>
              <a:t>Temporal prediction composition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7318B-2ED6-4670-9383-61E09F22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v_mix(τ) = v_background(τ) + W(τ) × [v_event(τ) − v_background(τ)]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CFB0E-D571-4395-8E34-758819FF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Mask spacing: 2048 / 44100 seconds per latent frame.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58758-C402-452E-887E-BEE25746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Shared latent and timestep; one scheduler update per iteration.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D79BB-055B-4BD6-A742-58768E5D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Endpoint tests matched exactly, but did not establish audible timing.</a:t>
            </a:r>
          </a:p>
        </p:txBody>
      </p:sp>
    </p:spTree>
    <p:extLst>
      <p:ext uri="{BB962C8B-B14F-4D97-AF65-F5344CB8AC3E}">
        <p14:creationId xmlns:p14="http://schemas.microsoft.com/office/powerpoint/2010/main" val="19570156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B6494-012A-442E-BCFE-B750B88B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D3D"/>
                </a:solidFill>
                <a:latin typeface="Arial"/>
                <a:ea typeface="Arial"/>
                <a:cs typeface="Arial"/>
              </a:rPr>
              <a:t>Timing experiments: negative acoustic results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BAA63-D720-40EC-A2A9-C45616AE7102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810000"/>
                <a:gridCol w="4210050"/>
              </a:tblGrid>
              <a:tr h="742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Experiment</a:t>
                      </a:r>
                    </a:p>
                  </a:txBody>
                  <a:tcPr marL="91440" marR="91440" marT="45720" marB="45720">
                    <a:solidFill>
                      <a:srgbClr val="17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17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Observed result</a:t>
                      </a:r>
                    </a:p>
                  </a:txBody>
                  <a:tcPr marL="91440" marR="91440" marT="45720" marB="45720">
                    <a:solidFill>
                      <a:srgbClr val="172D3D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Adapter-only mask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Base / full / 3–6 s mask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No reliable placement; rain remained natural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Two-prompt regions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Rain background; rain + dog event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No audible barking in all 12 regional clips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Shifted windows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1–4 s versus 6–9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No demonstrated event movement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Global seed 2026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Base and dog LoRA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Barks around 2, 3 and 6 seconds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B5E77-EB2F-4BE0-AD52-B88D731A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Correct execution does not imply successful sound composition.</a:t>
            </a:r>
          </a:p>
        </p:txBody>
      </p:sp>
    </p:spTree>
    <p:extLst>
      <p:ext uri="{BB962C8B-B14F-4D97-AF65-F5344CB8AC3E}">
        <p14:creationId xmlns:p14="http://schemas.microsoft.com/office/powerpoint/2010/main" val="2622896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9B407-C7B1-49F4-83B4-873E04D1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D3D"/>
                </a:solidFill>
                <a:latin typeface="Arial"/>
                <a:ea typeface="Arial"/>
                <a:cs typeface="Arial"/>
              </a:rPr>
              <a:t>Story demonstration: forest cabin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0A2F6-EFFE-4642-A567-70F29003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Eight narrated scenes, with measured sentence durations.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44EC7-8C7E-45FF-9B67-01D283B6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Ten categories: rain, forest, trees, wind, footsteps, running, dog, wood, door and piano.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029DD-CE2E-4273-B621-C33D2BFC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Two candidates per category; dog LoRA only for dog generation.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56AB8-DB8F-4A1D-84FF-47571AF1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Crossfaded ambience/music, timed effects and narration-driven ducking.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6F53F-8203-4331-9F82-68FC5EFA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Implementation ready; first server generation and listening review pending.</a:t>
            </a:r>
          </a:p>
        </p:txBody>
      </p:sp>
    </p:spTree>
    <p:extLst>
      <p:ext uri="{BB962C8B-B14F-4D97-AF65-F5344CB8AC3E}">
        <p14:creationId xmlns:p14="http://schemas.microsoft.com/office/powerpoint/2010/main" val="8478557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4D99C-EB47-45F8-AD4E-AA10BBBB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D3D"/>
                </a:solidFill>
                <a:latin typeface="Arial"/>
                <a:ea typeface="Arial"/>
                <a:cs typeface="Arial"/>
              </a:rPr>
              <a:t>Evaluation and limitations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55DC8-1DA0-4135-B1EE-39CC5404F748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7162800"/>
              </a:tblGrid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Evaluate next</a:t>
                      </a:r>
                    </a:p>
                  </a:txBody>
                  <a:tcPr marL="91440" marR="91440" marT="45720" marB="45720">
                    <a:solidFill>
                      <a:srgbClr val="17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</a:t>
                      </a:r>
                    </a:p>
                  </a:txBody>
                  <a:tcPr marL="91440" marR="91440" marT="45720" marB="45720">
                    <a:solidFill>
                      <a:srgbClr val="172D3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Narration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Intelligibility and audible masking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Effects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Presence, onset time and missing categories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Music / ambience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Level balance, continuity and loop seams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Same story, seeds and candidate selections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D16C5-CF71-415B-9B25-DAD9AEE0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Limits: one listener; small dog dataset; manual scene plan; no formal quality metric.</a:t>
            </a:r>
          </a:p>
          <a:p xmlns:a="http://schemas.openxmlformats.org/drawingml/2006/main">
            <a:pPr>
              <a:defRPr sz="20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Only dog is adapted. Other categories use the base model.</a:t>
            </a:r>
          </a:p>
        </p:txBody>
      </p:sp>
    </p:spTree>
    <p:extLst>
      <p:ext uri="{BB962C8B-B14F-4D97-AF65-F5344CB8AC3E}">
        <p14:creationId xmlns:p14="http://schemas.microsoft.com/office/powerpoint/2010/main" val="13853759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D9613-B39F-4F2E-9837-44CB9E10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D3D"/>
                </a:solidFill>
                <a:latin typeface="Arial"/>
                <a:ea typeface="Arial"/>
                <a:cs typeface="Arial"/>
              </a:rPr>
              <a:t>Plan to 3 November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747C2-A2BD-4941-BEEC-44C18F7F7F9F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686800"/>
              </a:tblGrid>
              <a:tr h="603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Date</a:t>
                      </a:r>
                    </a:p>
                  </a:txBody>
                  <a:tcPr marL="91440" marR="91440" marT="45720" marB="45720">
                    <a:solidFill>
                      <a:srgbClr val="17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Deliverable</a:t>
                      </a:r>
                    </a:p>
                  </a:txBody>
                  <a:tcPr marL="91440" marR="91440" marT="45720" marB="45720">
                    <a:solidFill>
                      <a:srgbClr val="172D3D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28–29 Oct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Run narration + sound bank; listen and choose candidates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30–31 Oct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Second story; freeze examples and comparison results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1 Nov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Update report and slides with actual demo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2 Nov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Rehearse and keep offline WAV / PDF / slide backups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3 Nov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Present results, negative findings and next hypotheses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40847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2026-10-28T09:32:22.3230000Z</dcterms:created>
  <dcterms:modified xsi:type="dcterms:W3CDTF">2026-10-28T09:32:22.3230000Z</dcterms:modified>
</coreProperties>
</file>